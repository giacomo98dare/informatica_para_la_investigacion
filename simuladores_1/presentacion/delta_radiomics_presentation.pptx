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268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9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566928"/>
            <a:ext cx="1005840" cy="1005840"/>
          </a:xfrm>
          <a:prstGeom prst="ellipse">
            <a:avLst/>
          </a:prstGeom>
          <a:solidFill>
            <a:srgbClr val="009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56692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Δ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645920" y="59436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Delta-Radiomics Analyzer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45920" y="15087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MR-Linac  ·  Tumor Response Assessment  ·  NAIARA Project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84048" y="2240280"/>
            <a:ext cx="8321040" cy="0"/>
          </a:xfrm>
          <a:prstGeom prst="line">
            <a:avLst/>
          </a:prstGeom>
          <a:noFill/>
          <a:ln w="12700">
            <a:solidFill>
              <a:srgbClr val="2A3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2316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9E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57200" y="32644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radiomic features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37560" y="242316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9E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3337560" y="32644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MR-Linac timepoints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242316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9E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6217920" y="32644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2423160"/>
            <a:ext cx="0" cy="1188720"/>
          </a:xfrm>
          <a:prstGeom prst="line">
            <a:avLst/>
          </a:prstGeom>
          <a:noFill/>
          <a:ln w="12700">
            <a:solidFill>
              <a:srgbClr val="2A3A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2423160"/>
            <a:ext cx="0" cy="1188720"/>
          </a:xfrm>
          <a:prstGeom prst="line">
            <a:avLst/>
          </a:prstGeom>
          <a:noFill/>
          <a:ln w="12700">
            <a:solidFill>
              <a:srgbClr val="2A3A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15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617720"/>
            <a:ext cx="82296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 para la investigación  ·  UNAV / Tecnun  ·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4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840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21792" y="1097280"/>
            <a:ext cx="3328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CHALLENGE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1508760"/>
            <a:ext cx="3328416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MR-Linac generates one MRI scan per RT fraction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scan contains quantitative tissue information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analysis ignores longitudinal changes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0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exploit imaging changes for outcome prediction?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960120"/>
            <a:ext cx="3840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93792" y="1097280"/>
            <a:ext cx="3328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DELTA-RADIOMICS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93792" y="1536192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T₀ → T₁ → T₂ → T₃ → T₄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93792" y="190195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8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193792" y="2176272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Δ% per radiomic feature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93792" y="2523744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8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93792" y="2798064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&amp; R²  (linear regression)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93792" y="3145536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8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93792" y="3419856"/>
            <a:ext cx="3328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score  ·  0–100%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93792" y="3767328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8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93792" y="4041648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RESPONDEDOR / NO RESPONDEDOR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4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Tool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2560320" cy="3657600"/>
          </a:xfrm>
          <a:prstGeom prst="rect">
            <a:avLst/>
          </a:prstGeom>
          <a:solidFill>
            <a:srgbClr val="EEF1F8"/>
          </a:solidFill>
          <a:ln w="12700">
            <a:solidFill>
              <a:srgbClr val="D8E2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960120"/>
            <a:ext cx="2560320" cy="73152"/>
          </a:xfrm>
          <a:prstGeom prst="rect">
            <a:avLst/>
          </a:prstGeom>
          <a:solidFill>
            <a:srgbClr val="2E70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115568"/>
            <a:ext cx="640080" cy="640080"/>
          </a:xfrm>
          <a:prstGeom prst="ellipse">
            <a:avLst/>
          </a:prstGeom>
          <a:solidFill>
            <a:srgbClr val="2E70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883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2E7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4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 file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2606040"/>
            <a:ext cx="2148840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sheet per timepoint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Feature | Value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T₀ · T₁ · T₂ · T₃ · T₄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upload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560320" cy="3657600"/>
          </a:xfrm>
          <a:prstGeom prst="rect">
            <a:avLst/>
          </a:prstGeom>
          <a:solidFill>
            <a:srgbClr val="EEF1F8"/>
          </a:solidFill>
          <a:ln w="12700">
            <a:solidFill>
              <a:srgbClr val="D8E2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60120"/>
            <a:ext cx="2560320" cy="73152"/>
          </a:xfrm>
          <a:prstGeom prst="rect">
            <a:avLst/>
          </a:prstGeom>
          <a:solidFill>
            <a:srgbClr val="009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1115568"/>
            <a:ext cx="640080" cy="640080"/>
          </a:xfrm>
          <a:prstGeom prst="ellipse">
            <a:avLst/>
          </a:prstGeom>
          <a:solidFill>
            <a:srgbClr val="009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91840" y="1883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21945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4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4-step analysis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01568" y="2606040"/>
            <a:ext cx="2148840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index features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Δ% + regression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per feature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global score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960120"/>
            <a:ext cx="2560320" cy="3657600"/>
          </a:xfrm>
          <a:prstGeom prst="rect">
            <a:avLst/>
          </a:prstGeom>
          <a:solidFill>
            <a:srgbClr val="EEF1F8"/>
          </a:solidFill>
          <a:ln w="12700">
            <a:solidFill>
              <a:srgbClr val="D8E2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960120"/>
            <a:ext cx="2560320" cy="73152"/>
          </a:xfrm>
          <a:prstGeom prst="rect">
            <a:avLst/>
          </a:prstGeom>
          <a:solidFill>
            <a:srgbClr val="18A8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1115568"/>
            <a:ext cx="640080" cy="640080"/>
          </a:xfrm>
          <a:prstGeom prst="ellipse">
            <a:avLst/>
          </a:prstGeom>
          <a:solidFill>
            <a:srgbClr val="18A8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17920" y="1883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18A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1945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4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formats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27648" y="2606040"/>
            <a:ext cx="2148840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JSON: full feature report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Importable in VS Code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chart download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52928" y="24688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88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779008" y="24688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88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80160" y="4754880"/>
            <a:ext cx="6583680" cy="256032"/>
          </a:xfrm>
          <a:prstGeom prst="rect">
            <a:avLst/>
          </a:prstGeom>
          <a:solidFill>
            <a:srgbClr val="D0EDE9"/>
          </a:solidFill>
          <a:ln w="9525">
            <a:solidFill>
              <a:srgbClr val="009E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0160" y="475488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 ·  No backend  ·  No build step  ·  Opens in any browser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Implementation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749040" cy="2990088"/>
          </a:xfrm>
          <a:prstGeom prst="rect">
            <a:avLst/>
          </a:prstGeom>
          <a:solidFill>
            <a:srgbClr val="0D152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78992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618488"/>
            <a:ext cx="109728" cy="109728"/>
          </a:xfrm>
          <a:prstGeom prst="ellipse">
            <a:avLst/>
          </a:prstGeom>
          <a:solidFill>
            <a:srgbClr val="009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0876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40280" y="150876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layout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196845"/>
            <a:ext cx="109728" cy="109728"/>
          </a:xfrm>
          <a:prstGeom prst="ellipse">
            <a:avLst/>
          </a:prstGeom>
          <a:solidFill>
            <a:srgbClr val="009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087117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40280" y="2087117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Styling, grid, animations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775205"/>
            <a:ext cx="109728" cy="109728"/>
          </a:xfrm>
          <a:prstGeom prst="ellipse">
            <a:avLst/>
          </a:prstGeom>
          <a:solidFill>
            <a:srgbClr val="009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665477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40280" y="2665477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Logic, DOM, SVG charts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360421"/>
            <a:ext cx="109728" cy="109728"/>
          </a:xfrm>
          <a:prstGeom prst="ellipse">
            <a:avLst/>
          </a:prstGeom>
          <a:solidFill>
            <a:srgbClr val="009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250693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Fonts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250693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 · JetBrains · Outfit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960120"/>
            <a:ext cx="3749040" cy="2990088"/>
          </a:xfrm>
          <a:prstGeom prst="rect">
            <a:avLst/>
          </a:prstGeom>
          <a:solidFill>
            <a:srgbClr val="0D152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107899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STRUCTURE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57800" y="1508760"/>
            <a:ext cx="3337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simuladores_1/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1837944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delta_radiomics_analyzer.html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2167128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styles.css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2496312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main.js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3154680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8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datos_respondedor.xlsx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3483864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88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datos_no_respondedor.xlsx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009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553712"/>
            <a:ext cx="8229600" cy="589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.html file  ·  No build step  ·  No framework  ·  Opens directly in the browser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267</Words>
  <Application>Microsoft Office PowerPoint</Application>
  <PresentationFormat>Presentación en pantalla (16:9)</PresentationFormat>
  <Paragraphs>75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Consolas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Delta-Radiomics Analyzer</dc:title>
  <dc:subject>PptxGenJS Presentation</dc:subject>
  <dc:creator>PptxGenJS</dc:creator>
  <cp:lastModifiedBy>Giacomo Da Re</cp:lastModifiedBy>
  <cp:revision>2</cp:revision>
  <dcterms:created xsi:type="dcterms:W3CDTF">2026-06-04T18:43:53Z</dcterms:created>
  <dcterms:modified xsi:type="dcterms:W3CDTF">2026-06-05T06:55:17Z</dcterms:modified>
</cp:coreProperties>
</file>